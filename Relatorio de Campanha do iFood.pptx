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2" roundtripDataSignature="AMtx7mgtllCj14qTc/fj0wUPN7JGGvUK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d81ce13e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ed81ce13e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/>
              <a:t>Relatório de Campanha do iFood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by Gustavo Shelby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Contexto</a:t>
            </a:r>
            <a:endParaRPr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pt-BR"/>
              <a:t>O time de marketing tem como objetivo para esse trimestre aumentar o faturamento vindo das campanhas de marketing, pois manter um alto engajamento do cliente e essencial para o crescimento e consolidação da posição da empresa como líder de mercado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pt-BR"/>
              <a:t>Neste projeto, o time de marketing gostaria de entender os dados da última campanha com os clientes para encontrar oportunidades de negócios e insights e propor qualquer ação baseada em dados para otimizar os resultados das campanhas e gerar valor para a empresa.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7"/>
              <a:buNone/>
            </a:pPr>
            <a:r>
              <a:rPr lang="pt-BR"/>
              <a:t>O objetivo dessa análise e gerar insights para aumentar o faturamento das próximas campanhas de marketing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Premissas</a:t>
            </a:r>
            <a:endParaRPr/>
          </a:p>
        </p:txBody>
      </p:sp>
      <p:sp>
        <p:nvSpPr>
          <p:cNvPr id="67" name="Google Shape;6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Os dados utilizados para a análise são somente da </a:t>
            </a:r>
            <a:r>
              <a:rPr lang="pt-BR"/>
              <a:t>última</a:t>
            </a:r>
            <a:r>
              <a:rPr lang="pt-BR"/>
              <a:t> campanha.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/>
              <a:t>Os dados coletados para a análise foram dos últimos 3 meses, durante a campanha.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pt-BR"/>
              <a:t>Foram coletados os dados de 2205 clientes participantes da última campanha.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type="title"/>
          </p:nvPr>
        </p:nvSpPr>
        <p:spPr>
          <a:xfrm>
            <a:off x="311700" y="152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Números Gerais da Campanha</a:t>
            </a:r>
            <a:endParaRPr/>
          </a:p>
        </p:txBody>
      </p:sp>
      <p:pic>
        <p:nvPicPr>
          <p:cNvPr id="73" name="Google Shape;73;p4" title="Gráfico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9150" y="3147100"/>
            <a:ext cx="3367591" cy="9530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4"/>
          <p:cNvSpPr txBox="1"/>
          <p:nvPr/>
        </p:nvSpPr>
        <p:spPr>
          <a:xfrm>
            <a:off x="389800" y="850550"/>
            <a:ext cx="4116000" cy="4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</a:rPr>
              <a:t>A última campanha de marketing gerou um faturamento de </a:t>
            </a:r>
            <a:r>
              <a:rPr b="1" lang="pt-BR" sz="2000">
                <a:solidFill>
                  <a:schemeClr val="dk1"/>
                </a:solidFill>
              </a:rPr>
              <a:t>R$ 1.240.896,00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</a:rPr>
              <a:t>com </a:t>
            </a:r>
            <a:r>
              <a:rPr b="1" lang="pt-BR" sz="2000">
                <a:solidFill>
                  <a:schemeClr val="dk1"/>
                </a:solidFill>
              </a:rPr>
              <a:t>ticket médio de R$ 343,00 por pedido</a:t>
            </a:r>
            <a:r>
              <a:rPr lang="pt-BR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</a:rPr>
              <a:t>Durante o período da campanha, foram registradas </a:t>
            </a:r>
            <a:r>
              <a:rPr b="1" lang="pt-BR" sz="2000">
                <a:solidFill>
                  <a:schemeClr val="dk1"/>
                </a:solidFill>
              </a:rPr>
              <a:t>11.768 visitas ao site</a:t>
            </a:r>
            <a:r>
              <a:rPr lang="pt-BR" sz="2000">
                <a:solidFill>
                  <a:schemeClr val="dk1"/>
                </a:solidFill>
              </a:rPr>
              <a:t>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</a:rPr>
              <a:t>Em média, cada visitante acessou o site </a:t>
            </a:r>
            <a:r>
              <a:rPr b="1" lang="pt-BR" sz="2000">
                <a:solidFill>
                  <a:schemeClr val="dk1"/>
                </a:solidFill>
              </a:rPr>
              <a:t>5 vezes</a:t>
            </a:r>
            <a:r>
              <a:rPr lang="pt-BR" sz="2000">
                <a:solidFill>
                  <a:schemeClr val="dk1"/>
                </a:solidFill>
              </a:rPr>
              <a:t>,</a:t>
            </a:r>
            <a:endParaRPr sz="2900">
              <a:solidFill>
                <a:schemeClr val="dk1"/>
              </a:solidFill>
            </a:endParaRPr>
          </a:p>
        </p:txBody>
      </p:sp>
      <p:pic>
        <p:nvPicPr>
          <p:cNvPr id="75" name="Google Shape;75;p4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3487" y="107550"/>
            <a:ext cx="3740524" cy="10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4" title="Gráf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6987" y="974700"/>
            <a:ext cx="2793501" cy="89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4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5400" y="1929750"/>
            <a:ext cx="2568000" cy="115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03713" y="4056175"/>
            <a:ext cx="3038475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311700" y="12417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Faturamento por Faixa Etária</a:t>
            </a:r>
            <a:endParaRPr/>
          </a:p>
        </p:txBody>
      </p:sp>
      <p:sp>
        <p:nvSpPr>
          <p:cNvPr id="84" name="Google Shape;84;p5"/>
          <p:cNvSpPr txBox="1"/>
          <p:nvPr>
            <p:ph idx="1" type="body"/>
          </p:nvPr>
        </p:nvSpPr>
        <p:spPr>
          <a:xfrm>
            <a:off x="232050" y="3189424"/>
            <a:ext cx="8679900" cy="14959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/>
              <a:t>Os clientes que mais gastam com iFood </a:t>
            </a:r>
            <a:r>
              <a:rPr b="1" lang="pt-BR" sz="1400"/>
              <a:t>têm entre 40 e 50 anos</a:t>
            </a:r>
            <a:r>
              <a:rPr lang="pt-BR" sz="1400"/>
              <a:t>. Abaixo de 30 anos são o público do iFood que menos comprou!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pt-BR" sz="1400"/>
              <a:t>O menor faturamento na faixa abaixo dos 30 anos </a:t>
            </a:r>
            <a:r>
              <a:rPr b="1" lang="pt-BR" sz="1400"/>
              <a:t>está muito associado ao</a:t>
            </a:r>
            <a:r>
              <a:rPr lang="pt-BR" sz="1400"/>
              <a:t> poder aquisitivo. Enquanto os jovens costumam estar em início de carreira, o público de 40 a 50 anos está no auge profissional, possuindo maior estabilidade financeira para consumir no iFood.</a:t>
            </a:r>
            <a:endParaRPr/>
          </a:p>
        </p:txBody>
      </p:sp>
      <p:pic>
        <p:nvPicPr>
          <p:cNvPr id="85" name="Google Shape;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345" y="872182"/>
            <a:ext cx="8341309" cy="2317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4133" y="1903230"/>
            <a:ext cx="5242722" cy="302026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"/>
          <p:cNvSpPr txBox="1"/>
          <p:nvPr>
            <p:ph type="title"/>
          </p:nvPr>
        </p:nvSpPr>
        <p:spPr>
          <a:xfrm>
            <a:off x="1379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Faturamento por Status Civil</a:t>
            </a:r>
            <a:endParaRPr/>
          </a:p>
        </p:txBody>
      </p:sp>
      <p:sp>
        <p:nvSpPr>
          <p:cNvPr id="92" name="Google Shape;92;p6"/>
          <p:cNvSpPr txBox="1"/>
          <p:nvPr>
            <p:ph idx="1" type="body"/>
          </p:nvPr>
        </p:nvSpPr>
        <p:spPr>
          <a:xfrm>
            <a:off x="4551399" y="704993"/>
            <a:ext cx="4439400" cy="14400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pt-BR" sz="1400"/>
              <a:t>O maior faturamento na faixa de 40 a 50 anos </a:t>
            </a:r>
            <a:r>
              <a:rPr b="1" lang="pt-BR" sz="1400"/>
              <a:t>está muito associado ao</a:t>
            </a:r>
            <a:r>
              <a:rPr lang="pt-BR" sz="1400"/>
              <a:t> maior poder aquisitivo comparado com os clientes de 20 a 30 anos</a:t>
            </a:r>
            <a:endParaRPr/>
          </a:p>
        </p:txBody>
      </p:sp>
      <p:pic>
        <p:nvPicPr>
          <p:cNvPr id="93" name="Google Shape;93;p6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900" y="2724150"/>
            <a:ext cx="3826676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 txBox="1"/>
          <p:nvPr/>
        </p:nvSpPr>
        <p:spPr>
          <a:xfrm>
            <a:off x="137900" y="484875"/>
            <a:ext cx="40335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Clientes casados representam </a:t>
            </a:r>
            <a:r>
              <a:rPr b="1" lang="pt-BR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37,62%</a:t>
            </a:r>
            <a:r>
              <a:rPr lang="pt-BR" sz="1100">
                <a:solidFill>
                  <a:schemeClr val="dk1"/>
                </a:solidFill>
              </a:rPr>
              <a:t>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faturamento da campanha.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Lares com 2 ou mais pessoas geram um volume naturalmente maior de consumo por pedido.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Poder de Compra: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renda somada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casal aumenta o orçamento disponível para consumo, diferentemente do público solteiro, que possui custos </a:t>
            </a:r>
            <a:r>
              <a:rPr lang="pt-BR"/>
              <a:t>e consumo menores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>
            <p:ph type="title"/>
          </p:nvPr>
        </p:nvSpPr>
        <p:spPr>
          <a:xfrm>
            <a:off x="311700" y="18525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Faturamento dos Clientes com Filhos</a:t>
            </a:r>
            <a:endParaRPr/>
          </a:p>
        </p:txBody>
      </p:sp>
      <p:sp>
        <p:nvSpPr>
          <p:cNvPr id="100" name="Google Shape;100;p7"/>
          <p:cNvSpPr txBox="1"/>
          <p:nvPr/>
        </p:nvSpPr>
        <p:spPr>
          <a:xfrm>
            <a:off x="5598201" y="823775"/>
            <a:ext cx="3545700" cy="43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Vinhos e carnes nobres são itens de valor agregado voltados ao </a:t>
            </a:r>
            <a:r>
              <a:rPr b="1" i="1" lang="pt-BR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consumo adulto</a:t>
            </a:r>
            <a:r>
              <a:rPr i="1" lang="pt-BR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e ocasiões especiais. A estrutura familiar dita diretamente a prioridade desses gastos no aplicativo. 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Lares Sem Filhos:</a:t>
            </a:r>
            <a:r>
              <a:rPr lang="pt-BR" sz="1100">
                <a:solidFill>
                  <a:schemeClr val="dk1"/>
                </a:solidFill>
              </a:rPr>
              <a:t>É a base de sustentação da campanha. A ausência de dependentes reflete maior renda disponível para produtos premium e maior frequência de momentos de lazer em casa.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Lares com 1 Adolescente:</a:t>
            </a:r>
            <a:r>
              <a:rPr lang="pt-BR" sz="1100">
                <a:solidFill>
                  <a:schemeClr val="dk1"/>
                </a:solidFill>
              </a:rPr>
              <a:t> Indica resiliência de consumo. É o cenário ideal para estratégias de </a:t>
            </a:r>
            <a:r>
              <a:rPr i="1" lang="pt-BR" sz="1100">
                <a:solidFill>
                  <a:schemeClr val="dk1"/>
                </a:solidFill>
              </a:rPr>
              <a:t>cross-selling</a:t>
            </a:r>
            <a:r>
              <a:rPr lang="pt-BR" sz="1100">
                <a:solidFill>
                  <a:schemeClr val="dk1"/>
                </a:solidFill>
              </a:rPr>
              <a:t> (venda cruzada) unindo o volume de proteínas para a casa (churrasco/almoço) com a garrafa de vinho para os pais.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Impacto de Crianças e 2+ Filhos:</a:t>
            </a:r>
            <a:r>
              <a:rPr lang="pt-BR" sz="1100">
                <a:solidFill>
                  <a:schemeClr val="dk1"/>
                </a:solidFill>
              </a:rPr>
              <a:t>A dinâmica de lares com crianças pequenas ou múltiplos filhos desloca o orçamento para categorias de primeira necessidade ou alimentação rápida, tornando o público ineficiente para produtos premium.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01" name="Google Shape;101;p7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800" y="883650"/>
            <a:ext cx="5416300" cy="393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/>
          <p:nvPr>
            <p:ph type="title"/>
          </p:nvPr>
        </p:nvSpPr>
        <p:spPr>
          <a:xfrm>
            <a:off x="311700" y="37999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Faturamento por Categoria</a:t>
            </a:r>
            <a:endParaRPr/>
          </a:p>
        </p:txBody>
      </p:sp>
      <p:pic>
        <p:nvPicPr>
          <p:cNvPr id="107" name="Google Shape;1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03" y="1375158"/>
            <a:ext cx="5060138" cy="344434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8"/>
          <p:cNvSpPr txBox="1"/>
          <p:nvPr/>
        </p:nvSpPr>
        <p:spPr>
          <a:xfrm>
            <a:off x="5115141" y="1647380"/>
            <a:ext cx="3808853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Vinhos e Carnes representam apenas 2 das 6 categorias (ou seja,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33% dos tipos de produtos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mas são responsáveis por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77,7% de todo o faturamento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iFood nessa base.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Vinho e Carne são produtos caros por natureza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(alto valor agregado)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Frutas e doces têm valor unitário baixo. Aqui o faturamento não está concentrado porque as pessoas compram </a:t>
            </a: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vinho do que fruta, mas sim porque cada compra de vinho custa muito mais caro.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81ce13e7_0_2"/>
          <p:cNvSpPr txBox="1"/>
          <p:nvPr>
            <p:ph type="title"/>
          </p:nvPr>
        </p:nvSpPr>
        <p:spPr>
          <a:xfrm>
            <a:off x="311700" y="37999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Faturamento por Nível de Escolaridade</a:t>
            </a:r>
            <a:endParaRPr/>
          </a:p>
        </p:txBody>
      </p:sp>
      <p:sp>
        <p:nvSpPr>
          <p:cNvPr id="114" name="Google Shape;114;g3ed81ce13e7_0_2"/>
          <p:cNvSpPr txBox="1"/>
          <p:nvPr/>
        </p:nvSpPr>
        <p:spPr>
          <a:xfrm>
            <a:off x="4936141" y="1124855"/>
            <a:ext cx="38088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500">
                <a:solidFill>
                  <a:schemeClr val="dk1"/>
                </a:solidFill>
              </a:rPr>
              <a:t>Clientes com maior escolaridade tendem a comprar mais, e comprar produtos de maior valor agregado como vinho e carne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500">
                <a:solidFill>
                  <a:schemeClr val="dk1"/>
                </a:solidFill>
              </a:rPr>
              <a:t>isso tem </a:t>
            </a:r>
            <a:r>
              <a:rPr lang="pt-BR" sz="1500">
                <a:solidFill>
                  <a:schemeClr val="dk1"/>
                </a:solidFill>
              </a:rPr>
              <a:t>relação</a:t>
            </a:r>
            <a:r>
              <a:rPr lang="pt-BR" sz="1500">
                <a:solidFill>
                  <a:schemeClr val="dk1"/>
                </a:solidFill>
              </a:rPr>
              <a:t> ao seu </a:t>
            </a:r>
            <a:r>
              <a:rPr b="1" lang="pt-BR" sz="1500">
                <a:solidFill>
                  <a:schemeClr val="dk1"/>
                </a:solidFill>
              </a:rPr>
              <a:t>maior poder aquisitivo</a:t>
            </a:r>
            <a:r>
              <a:rPr lang="pt-BR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500">
                <a:solidFill>
                  <a:schemeClr val="dk1"/>
                </a:solidFill>
              </a:rPr>
              <a:t>O time de CRM pode criar uma </a:t>
            </a:r>
            <a:r>
              <a:rPr lang="pt-BR" sz="1500">
                <a:solidFill>
                  <a:schemeClr val="dk1"/>
                </a:solidFill>
              </a:rPr>
              <a:t>segmentação</a:t>
            </a:r>
            <a:r>
              <a:rPr lang="pt-BR" sz="1500">
                <a:solidFill>
                  <a:schemeClr val="dk1"/>
                </a:solidFill>
              </a:rPr>
              <a:t> de e-mails exclusiva para esse público destacando a nossa linha de restaurantes gourmet e vinhos selecionados, em vez de cupons de fast-food.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g3ed81ce13e7_0_2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800" y="1084551"/>
            <a:ext cx="4810350" cy="297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83805"/>
            <a:ext cx="7225835" cy="445969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9"/>
          <p:cNvSpPr txBox="1"/>
          <p:nvPr>
            <p:ph type="title"/>
          </p:nvPr>
        </p:nvSpPr>
        <p:spPr>
          <a:xfrm>
            <a:off x="311700" y="26156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Tendência de Compra Conjunta (Carne e Vinho)</a:t>
            </a:r>
            <a:endParaRPr/>
          </a:p>
        </p:txBody>
      </p:sp>
      <p:sp>
        <p:nvSpPr>
          <p:cNvPr id="122" name="Google Shape;122;p9"/>
          <p:cNvSpPr txBox="1"/>
          <p:nvPr>
            <p:ph idx="1" type="body"/>
          </p:nvPr>
        </p:nvSpPr>
        <p:spPr>
          <a:xfrm>
            <a:off x="6117328" y="1712658"/>
            <a:ext cx="2721875" cy="19797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pt-BR"/>
              <a:t>Existe uma tendência de consumo conjunto. O aumento na compra de carne impulsiona a compra de vinho.</a:t>
            </a:r>
            <a:r>
              <a:rPr b="1" lang="pt-BR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29032"/>
              <a:buNone/>
            </a:pPr>
            <a:r>
              <a:rPr lang="pt-BR"/>
              <a:t>Ela influencia </a:t>
            </a:r>
            <a:r>
              <a:rPr b="1" lang="pt-BR"/>
              <a:t>35%</a:t>
            </a:r>
            <a:r>
              <a:rPr lang="pt-BR"/>
              <a:t> da decisão do cliente de adicionar um vinho ao pedido.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Insights para aumentar o faturamento da próxima campanha de Marketing</a:t>
            </a:r>
            <a:endParaRPr/>
          </a:p>
        </p:txBody>
      </p:sp>
      <p:sp>
        <p:nvSpPr>
          <p:cNvPr id="128" name="Google Shape;128;p10"/>
          <p:cNvSpPr txBox="1"/>
          <p:nvPr>
            <p:ph idx="1" type="body"/>
          </p:nvPr>
        </p:nvSpPr>
        <p:spPr>
          <a:xfrm>
            <a:off x="429100" y="1546275"/>
            <a:ext cx="7774800" cy="3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pt-BR"/>
              <a:t>Aumentar o número de visitas no site, colocando benefícios exclusivos apenas para compras no site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lang="pt-BR"/>
              <a:t>Fazer um campanha oferecendo desconto na compra de um produto relacionado, Por exemplo, Clientes que comprarem carne receberam um cupom de desconto para produtos de vinho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946"/>
              <a:buNone/>
            </a:pPr>
            <a:r>
              <a:rPr lang="pt-BR"/>
              <a:t>Criar </a:t>
            </a:r>
            <a:r>
              <a:rPr lang="pt-BR"/>
              <a:t>segmentações</a:t>
            </a:r>
            <a:r>
              <a:rPr lang="pt-BR"/>
              <a:t> personalizadas no crm para clientes, fazendo campanhas mais direcionais. se por exemplo o cliente tem 1 filho ou 1 adolecente em casa, fazer </a:t>
            </a:r>
            <a:r>
              <a:rPr lang="pt-BR"/>
              <a:t>recomendações</a:t>
            </a:r>
            <a:r>
              <a:rPr lang="pt-BR"/>
              <a:t> distintas com base no seu </a:t>
            </a:r>
            <a:r>
              <a:rPr lang="pt-BR"/>
              <a:t>histórico</a:t>
            </a:r>
            <a:r>
              <a:rPr lang="pt-BR"/>
              <a:t> de compra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Próximos</a:t>
            </a:r>
            <a:r>
              <a:rPr lang="pt-BR"/>
              <a:t> Passos</a:t>
            </a:r>
            <a:endParaRPr/>
          </a:p>
        </p:txBody>
      </p:sp>
      <p:sp>
        <p:nvSpPr>
          <p:cNvPr id="134" name="Google Shape;134;p11"/>
          <p:cNvSpPr txBox="1"/>
          <p:nvPr>
            <p:ph idx="1" type="body"/>
          </p:nvPr>
        </p:nvSpPr>
        <p:spPr>
          <a:xfrm>
            <a:off x="311700" y="1541425"/>
            <a:ext cx="8612294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Fazer o acompanhamento das futuras campanhas de Market. Para observar a evolução no faturamento.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Fazer um Modelo de Classificação e Regressão para prever o sucesso da próxima campanha de marketing do ifood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Shelby</dc:creator>
</cp:coreProperties>
</file>